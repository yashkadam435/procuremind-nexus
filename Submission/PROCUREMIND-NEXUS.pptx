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Bricolage Grotesque Extra Bold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761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curemind-nexus.onrender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hyperlink" Target="https://procuremind-nexus.onrender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01" y="1353145"/>
            <a:ext cx="42357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PROCUREMIND NEXUS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08733"/>
            <a:ext cx="4722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Multi-Agent Procurement Intelligence Network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 AutoPilot AI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Demo: </a:t>
            </a:r>
            <a:r>
              <a:rPr lang="en-US" sz="1100" u="sng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https://procuremind-nexus.onrender.com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15169" y="3172346"/>
            <a:ext cx="1940719" cy="266402"/>
          </a:xfrm>
          <a:prstGeom prst="roundRect">
            <a:avLst>
              <a:gd name="adj" fmla="val 17880"/>
            </a:avLst>
          </a:prstGeom>
          <a:solidFill>
            <a:srgbClr val="3E0845"/>
          </a:solidFill>
          <a:ln/>
        </p:spPr>
      </p:sp>
      <p:sp>
        <p:nvSpPr>
          <p:cNvPr id="6" name="Text 3"/>
          <p:cNvSpPr/>
          <p:nvPr/>
        </p:nvSpPr>
        <p:spPr>
          <a:xfrm>
            <a:off x="1200224" y="3214836"/>
            <a:ext cx="22278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AGENT-TO-AGENT COMMERCE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126730" y="3167583"/>
            <a:ext cx="147302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16548" y="3214836"/>
            <a:ext cx="17505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AI ACT COMPLIANT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487388" y="3514353"/>
            <a:ext cx="274014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EEAE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77206" y="3561606"/>
            <a:ext cx="30177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AGENT OLYMPICS 2026 — MILAN AI WEEK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70210"/>
            <a:ext cx="930473" cy="233660"/>
          </a:xfrm>
          <a:prstGeom prst="roundRect">
            <a:avLst>
              <a:gd name="adj" fmla="val 18475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408682"/>
            <a:ext cx="1233636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50379"/>
            <a:ext cx="6102102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$5.5 Trillion Procurement Crisis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" y="1997497"/>
            <a:ext cx="3537719" cy="200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05523" y="1357387"/>
            <a:ext cx="2138586" cy="1362447"/>
          </a:xfrm>
          <a:prstGeom prst="roundRect">
            <a:avLst>
              <a:gd name="adj" fmla="val 3961"/>
            </a:avLst>
          </a:prstGeom>
          <a:solidFill>
            <a:srgbClr val="282D5E"/>
          </a:solidFill>
          <a:ln/>
        </p:spPr>
      </p:sp>
      <p:sp>
        <p:nvSpPr>
          <p:cNvPr id="7" name="Text 4"/>
          <p:cNvSpPr/>
          <p:nvPr/>
        </p:nvSpPr>
        <p:spPr>
          <a:xfrm>
            <a:off x="4433962" y="1485826"/>
            <a:ext cx="219915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60–70%</a:t>
            </a:r>
            <a:r>
              <a:rPr lang="en-US" sz="12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of buyer time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433962" y="1802904"/>
            <a:ext cx="188170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Wasted on transactional tasks — chasing approvals, reconciling invoices, reformatting proposals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60493" y="1357387"/>
            <a:ext cx="2138586" cy="1362447"/>
          </a:xfrm>
          <a:prstGeom prst="roundRect">
            <a:avLst>
              <a:gd name="adj" fmla="val 3961"/>
            </a:avLst>
          </a:prstGeom>
          <a:solidFill>
            <a:srgbClr val="282D5E"/>
          </a:solidFill>
          <a:ln/>
        </p:spPr>
      </p:sp>
      <p:sp>
        <p:nvSpPr>
          <p:cNvPr id="10" name="Text 7"/>
          <p:cNvSpPr/>
          <p:nvPr/>
        </p:nvSpPr>
        <p:spPr>
          <a:xfrm>
            <a:off x="6688931" y="1485826"/>
            <a:ext cx="1881708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$500K–$2M</a:t>
            </a:r>
            <a:r>
              <a:rPr lang="en-US" sz="12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lost annually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88931" y="2003599"/>
            <a:ext cx="188170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Savings evaporate from slow, manual RFx cycles that drag on for weeks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05523" y="2836218"/>
            <a:ext cx="4393555" cy="965820"/>
          </a:xfrm>
          <a:prstGeom prst="roundRect">
            <a:avLst>
              <a:gd name="adj" fmla="val 5587"/>
            </a:avLst>
          </a:prstGeom>
          <a:solidFill>
            <a:srgbClr val="282D5E"/>
          </a:solidFill>
          <a:ln/>
        </p:spPr>
      </p:sp>
      <p:sp>
        <p:nvSpPr>
          <p:cNvPr id="13" name="Text 10"/>
          <p:cNvSpPr/>
          <p:nvPr/>
        </p:nvSpPr>
        <p:spPr>
          <a:xfrm>
            <a:off x="4433962" y="2964656"/>
            <a:ext cx="226047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5–12%</a:t>
            </a:r>
            <a:r>
              <a:rPr lang="en-US" sz="12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maverick spend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33962" y="3281735"/>
            <a:ext cx="413667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Off-contract leakage with $200K–$1M per compliance violation incident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05523" y="3933006"/>
            <a:ext cx="4393555" cy="709315"/>
          </a:xfrm>
          <a:prstGeom prst="roundRect">
            <a:avLst>
              <a:gd name="adj" fmla="val 7607"/>
            </a:avLst>
          </a:prstGeom>
          <a:solidFill>
            <a:srgbClr val="4B3F0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962" y="4123953"/>
            <a:ext cx="160586" cy="12843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22986" y="4081463"/>
            <a:ext cx="384765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RPA handles structured clicks. Procurement is messy — AI agents reason, adapt, and learn.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AD9B4A-9333-7CA5-18C8-98C2996894A5}"/>
              </a:ext>
            </a:extLst>
          </p:cNvPr>
          <p:cNvSpPr/>
          <p:nvPr/>
        </p:nvSpPr>
        <p:spPr>
          <a:xfrm>
            <a:off x="7968343" y="4825573"/>
            <a:ext cx="1175657" cy="317927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460697"/>
            <a:ext cx="891778" cy="218033"/>
          </a:xfrm>
          <a:prstGeom prst="roundRect">
            <a:avLst>
              <a:gd name="adj" fmla="val 18775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499467" y="497235"/>
            <a:ext cx="120282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720551"/>
            <a:ext cx="5943154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5 Agents. 1 Orchestrator. Zero Chaos.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26393" y="1258267"/>
            <a:ext cx="82912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central LangGraph orchestrator coordinates a 7-step pipeline — </a:t>
            </a:r>
            <a:r>
              <a:rPr lang="en-US" sz="9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Parse → Comply → Scout → Analyze → Negotiate → Pay → Audit</a:t>
            </a: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with full state persistence and autonomous error recovery.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26393" y="1738387"/>
            <a:ext cx="2693938" cy="1510457"/>
          </a:xfrm>
          <a:prstGeom prst="roundRect">
            <a:avLst>
              <a:gd name="adj" fmla="val 3388"/>
            </a:avLst>
          </a:prstGeom>
          <a:solidFill>
            <a:srgbClr val="282D5E"/>
          </a:solidFill>
          <a:ln/>
        </p:spPr>
      </p:sp>
      <p:sp>
        <p:nvSpPr>
          <p:cNvPr id="7" name="Shape 5"/>
          <p:cNvSpPr/>
          <p:nvPr/>
        </p:nvSpPr>
        <p:spPr>
          <a:xfrm>
            <a:off x="548208" y="1860203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EEAE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667" y="1960662"/>
            <a:ext cx="164455" cy="1644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208" y="233027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Scout Agent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208" y="2583433"/>
            <a:ext cx="2450306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Discovers qualified suppliers across Europe in under 2 hours via web search, internal DB, and x402 credit reports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24957" y="1738387"/>
            <a:ext cx="2694012" cy="1510457"/>
          </a:xfrm>
          <a:prstGeom prst="roundRect">
            <a:avLst>
              <a:gd name="adj" fmla="val 3388"/>
            </a:avLst>
          </a:prstGeom>
          <a:solidFill>
            <a:srgbClr val="282D5E"/>
          </a:solidFill>
          <a:ln/>
        </p:spPr>
      </p:sp>
      <p:sp>
        <p:nvSpPr>
          <p:cNvPr id="12" name="Shape 9"/>
          <p:cNvSpPr/>
          <p:nvPr/>
        </p:nvSpPr>
        <p:spPr>
          <a:xfrm>
            <a:off x="3346772" y="1860203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EEAE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7231" y="1960662"/>
            <a:ext cx="164455" cy="1644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46772" y="233027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Analyst Agent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46772" y="2583433"/>
            <a:ext cx="2450381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100-page contracts in 30 seconds — multimodal PDF analysis with 0–100 risk scoring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23595" y="1738387"/>
            <a:ext cx="2694012" cy="1510457"/>
          </a:xfrm>
          <a:prstGeom prst="roundRect">
            <a:avLst>
              <a:gd name="adj" fmla="val 3388"/>
            </a:avLst>
          </a:prstGeom>
          <a:solidFill>
            <a:srgbClr val="282D5E"/>
          </a:solidFill>
          <a:ln/>
        </p:spPr>
      </p:sp>
      <p:sp>
        <p:nvSpPr>
          <p:cNvPr id="17" name="Shape 13"/>
          <p:cNvSpPr/>
          <p:nvPr/>
        </p:nvSpPr>
        <p:spPr>
          <a:xfrm>
            <a:off x="6145411" y="1860203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EEAE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5870" y="1960662"/>
            <a:ext cx="164455" cy="1644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5411" y="2330276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Negotiator Agent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45411" y="2583433"/>
            <a:ext cx="2450381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Drafts RFQs, scores bids, generates counter-offers, maintains context across negotiation rounds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26393" y="3353470"/>
            <a:ext cx="4093294" cy="1329258"/>
          </a:xfrm>
          <a:prstGeom prst="roundRect">
            <a:avLst>
              <a:gd name="adj" fmla="val 3849"/>
            </a:avLst>
          </a:prstGeom>
          <a:solidFill>
            <a:srgbClr val="282D5E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208" y="3475286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EEAE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667" y="3575745"/>
            <a:ext cx="164455" cy="16445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208" y="3945359"/>
            <a:ext cx="208225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Compliance Guardian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208" y="4198516"/>
            <a:ext cx="38496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Enforces EU AI Act Article 14 human-in-the-loop with hash-chained immutable audit trails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624313" y="3353470"/>
            <a:ext cx="4093294" cy="1329258"/>
          </a:xfrm>
          <a:prstGeom prst="roundRect">
            <a:avLst>
              <a:gd name="adj" fmla="val 3849"/>
            </a:avLst>
          </a:prstGeom>
          <a:solidFill>
            <a:srgbClr val="282D5E"/>
          </a:solidFill>
          <a:ln/>
        </p:spPr>
      </p:sp>
      <p:sp>
        <p:nvSpPr>
          <p:cNvPr id="27" name="Shape 21"/>
          <p:cNvSpPr/>
          <p:nvPr/>
        </p:nvSpPr>
        <p:spPr>
          <a:xfrm>
            <a:off x="4746129" y="3475286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EEAEF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46588" y="3575745"/>
            <a:ext cx="164455" cy="16445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46129" y="3945359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Payment Executor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746129" y="4198516"/>
            <a:ext cx="38496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payment processing with budget enforcement and treasury management integration</a:t>
            </a:r>
            <a:endParaRPr lang="en-US" sz="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A2EAA9-DB44-F774-9BBB-20F4BDACE73B}"/>
              </a:ext>
            </a:extLst>
          </p:cNvPr>
          <p:cNvSpPr/>
          <p:nvPr/>
        </p:nvSpPr>
        <p:spPr>
          <a:xfrm>
            <a:off x="7968343" y="4825573"/>
            <a:ext cx="1175657" cy="317927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3101" y="435322"/>
            <a:ext cx="670099" cy="202629"/>
          </a:xfrm>
          <a:prstGeom prst="roundRect">
            <a:avLst>
              <a:gd name="adj" fmla="val 19100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472157" y="469850"/>
            <a:ext cx="989186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DEMO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03101" y="675382"/>
            <a:ext cx="6069137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From Request to Settlement in 2.3 Days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01" y="2020044"/>
            <a:ext cx="4028405" cy="184368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439" y="2480362"/>
            <a:ext cx="259010" cy="259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59078" y="3425910"/>
            <a:ext cx="984909" cy="145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Settle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0220" y="2480848"/>
            <a:ext cx="259010" cy="2590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05921" y="3425910"/>
            <a:ext cx="984909" cy="145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Negotiate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22244" y="2480848"/>
            <a:ext cx="259010" cy="2590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57945" y="3425910"/>
            <a:ext cx="984909" cy="145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Agent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088" y="2480848"/>
            <a:ext cx="259010" cy="25901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9248" y="3425910"/>
            <a:ext cx="984909" cy="145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Request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4717256" y="1280889"/>
            <a:ext cx="4028405" cy="866254"/>
          </a:xfrm>
          <a:prstGeom prst="roundRect">
            <a:avLst>
              <a:gd name="adj" fmla="val 791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4702969" y="1280889"/>
            <a:ext cx="57150" cy="866254"/>
          </a:xfrm>
          <a:prstGeom prst="roundRect">
            <a:avLst>
              <a:gd name="adj" fmla="val 84651"/>
            </a:avLst>
          </a:prstGeom>
          <a:solidFill>
            <a:srgbClr val="EEAEF6"/>
          </a:solidFill>
          <a:ln/>
        </p:spPr>
      </p:sp>
      <p:sp>
        <p:nvSpPr>
          <p:cNvPr id="16" name="Text 9"/>
          <p:cNvSpPr/>
          <p:nvPr/>
        </p:nvSpPr>
        <p:spPr>
          <a:xfrm>
            <a:off x="4889525" y="1410295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Voice-First Input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889525" y="1683767"/>
            <a:ext cx="372673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 in English and Italian — </a:t>
            </a:r>
            <a:r>
              <a:rPr lang="en-US" sz="9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"Trova fornitori CNC"</a:t>
            </a: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via Speechmatics real-time transcription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717256" y="2240682"/>
            <a:ext cx="4028405" cy="866254"/>
          </a:xfrm>
          <a:prstGeom prst="roundRect">
            <a:avLst>
              <a:gd name="adj" fmla="val 791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702969" y="2240682"/>
            <a:ext cx="57150" cy="866254"/>
          </a:xfrm>
          <a:prstGeom prst="roundRect">
            <a:avLst>
              <a:gd name="adj" fmla="val 84651"/>
            </a:avLst>
          </a:prstGeom>
          <a:solidFill>
            <a:srgbClr val="EEAEF6"/>
          </a:solidFill>
          <a:ln/>
        </p:spPr>
      </p:sp>
      <p:sp>
        <p:nvSpPr>
          <p:cNvPr id="20" name="Text 13"/>
          <p:cNvSpPr/>
          <p:nvPr/>
        </p:nvSpPr>
        <p:spPr>
          <a:xfrm>
            <a:off x="4889525" y="2370088"/>
            <a:ext cx="201528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Autonomous Decision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889525" y="2643560"/>
            <a:ext cx="372673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Auto-approved under €10K threshold. 10 suppliers discovered in 90 seconds. Risk score flagged at 68/100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717256" y="3200474"/>
            <a:ext cx="4028405" cy="866254"/>
          </a:xfrm>
          <a:prstGeom prst="roundRect">
            <a:avLst>
              <a:gd name="adj" fmla="val 791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702969" y="3200474"/>
            <a:ext cx="57150" cy="866254"/>
          </a:xfrm>
          <a:prstGeom prst="roundRect">
            <a:avLst>
              <a:gd name="adj" fmla="val 84651"/>
            </a:avLst>
          </a:prstGeom>
          <a:solidFill>
            <a:srgbClr val="EEAEF6"/>
          </a:solidFill>
          <a:ln/>
        </p:spPr>
      </p:sp>
      <p:sp>
        <p:nvSpPr>
          <p:cNvPr id="24" name="Text 17"/>
          <p:cNvSpPr/>
          <p:nvPr/>
        </p:nvSpPr>
        <p:spPr>
          <a:xfrm>
            <a:off x="4889525" y="332988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Instant Settlement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889525" y="3603352"/>
            <a:ext cx="372673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payment processing with full transaction tracking and audit trails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717256" y="4171950"/>
            <a:ext cx="4028405" cy="430932"/>
          </a:xfrm>
          <a:prstGeom prst="roundRect">
            <a:avLst>
              <a:gd name="adj" fmla="val 11226"/>
            </a:avLst>
          </a:prstGeom>
          <a:solidFill>
            <a:srgbClr val="183A13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375" y="4338861"/>
            <a:ext cx="143917" cy="1151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91410" y="4294212"/>
            <a:ext cx="39963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days → 2.3 days  |  €400/order → €25/order  |  100% traceable</a:t>
            </a: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4F89B4-6A77-A7D5-D070-B8DEA41D1B28}"/>
              </a:ext>
            </a:extLst>
          </p:cNvPr>
          <p:cNvSpPr/>
          <p:nvPr/>
        </p:nvSpPr>
        <p:spPr>
          <a:xfrm>
            <a:off x="7968343" y="4825573"/>
            <a:ext cx="1175657" cy="317927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16623" y="366340"/>
            <a:ext cx="836340" cy="192658"/>
          </a:xfrm>
          <a:prstGeom prst="roundRect">
            <a:avLst>
              <a:gd name="adj" fmla="val 19316"/>
            </a:avLst>
          </a:prstGeom>
          <a:solidFill>
            <a:srgbClr val="3E0845"/>
          </a:solidFill>
          <a:ln/>
        </p:spPr>
      </p:sp>
      <p:sp>
        <p:nvSpPr>
          <p:cNvPr id="4" name="Text 1"/>
          <p:cNvSpPr/>
          <p:nvPr/>
        </p:nvSpPr>
        <p:spPr>
          <a:xfrm>
            <a:off x="3883075" y="399529"/>
            <a:ext cx="1160636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816623" y="593601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Technology Stack</a:t>
            </a:r>
            <a:endParaRPr lang="en-US" sz="2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623" y="1069479"/>
            <a:ext cx="553715" cy="7618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56807" y="1180207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Engine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456807" y="1405086"/>
            <a:ext cx="429957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 2.5 Pro (1M context, multimodal) + Flash for fast tasks. Structured JSON inter-agent communication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623" y="1831330"/>
            <a:ext cx="553715" cy="7618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56807" y="1942058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Backend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456807" y="2166938"/>
            <a:ext cx="429957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3.11 + FastAPI (16+ async endpoints), LangGraph orchestrator, SQLite + pgvector with hash-chained audit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623" y="2593181"/>
            <a:ext cx="553715" cy="7618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56807" y="2703909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Integrations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4456807" y="2928789"/>
            <a:ext cx="429957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Integrations: Speechmatics voice · Kraken treasury management · Render deployment (</a:t>
            </a:r>
            <a:r>
              <a:rPr lang="en-US" sz="850" u="sng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https://procuremind-nexus.onrender.com</a:t>
            </a: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6623" y="3355032"/>
            <a:ext cx="553715" cy="76185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56807" y="3465761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456807" y="3690640"/>
            <a:ext cx="429957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Zero-build HTML5/CSS3/JS SPA — glassmorphism dark theme, real-time SSE, 5 pages</a:t>
            </a:r>
            <a:endParaRPr lang="en-US" sz="850" dirty="0"/>
          </a:p>
        </p:txBody>
      </p:sp>
      <p:sp>
        <p:nvSpPr>
          <p:cNvPr id="18" name="Shape 11"/>
          <p:cNvSpPr/>
          <p:nvPr/>
        </p:nvSpPr>
        <p:spPr>
          <a:xfrm>
            <a:off x="3816623" y="4214217"/>
            <a:ext cx="4939754" cy="562868"/>
          </a:xfrm>
          <a:prstGeom prst="roundRect">
            <a:avLst>
              <a:gd name="adj" fmla="val 8264"/>
            </a:avLst>
          </a:prstGeom>
          <a:solidFill>
            <a:srgbClr val="3E0845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351" y="4374803"/>
            <a:ext cx="138410" cy="11072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176489" y="4328368"/>
            <a:ext cx="446916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Footprint:</a:t>
            </a: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Backend 1,500+ lines · Frontend 1,200+ lines · 8 DB tables · 16+ API endpoints</a:t>
            </a:r>
            <a:endParaRPr lang="en-US" sz="8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7D9F85-931A-EA7C-AB13-5785869EC31C}"/>
              </a:ext>
            </a:extLst>
          </p:cNvPr>
          <p:cNvSpPr/>
          <p:nvPr/>
        </p:nvSpPr>
        <p:spPr>
          <a:xfrm>
            <a:off x="7968343" y="4825573"/>
            <a:ext cx="1175657" cy="317927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114" y="340965"/>
            <a:ext cx="844748" cy="163562"/>
          </a:xfrm>
          <a:prstGeom prst="roundRect">
            <a:avLst>
              <a:gd name="adj" fmla="val 20022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399529" y="370136"/>
            <a:ext cx="1185118" cy="105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41114" y="531316"/>
            <a:ext cx="5146402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Before vs. After: The Numbers Don't Lie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0942" y="936278"/>
            <a:ext cx="4252392" cy="2070571"/>
          </a:xfrm>
          <a:prstGeom prst="roundRect">
            <a:avLst>
              <a:gd name="adj" fmla="val 3389"/>
            </a:avLst>
          </a:prstGeom>
          <a:solidFill>
            <a:srgbClr val="091158"/>
          </a:solidFill>
          <a:ln/>
        </p:spPr>
      </p:sp>
      <p:sp>
        <p:nvSpPr>
          <p:cNvPr id="6" name="Text 4"/>
          <p:cNvSpPr/>
          <p:nvPr/>
        </p:nvSpPr>
        <p:spPr>
          <a:xfrm>
            <a:off x="368350" y="1003250"/>
            <a:ext cx="229277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Before — Manual Procurement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8350" y="1230883"/>
            <a:ext cx="4057576" cy="1362075"/>
          </a:xfrm>
          <a:prstGeom prst="roundRect">
            <a:avLst>
              <a:gd name="adj" fmla="val 300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595" y="1280592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RFx Cycle Time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494583" y="1280592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14–21 days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0595" y="1506810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 Exceptions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94583" y="1506810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15–25%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0595" y="1733029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Maverick Spend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94583" y="1733029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5–12%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0595" y="1959248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per Order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94583" y="1959248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€150–400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0595" y="2185467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Audit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94583" y="2185467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weeks prep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0595" y="2411685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Approvals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94583" y="2411685"/>
            <a:ext cx="22863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of orders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95602" y="1003250"/>
            <a:ext cx="211923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After — ProcureMind Nexus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5602" y="1230883"/>
            <a:ext cx="4112047" cy="1362075"/>
          </a:xfrm>
          <a:prstGeom prst="roundRect">
            <a:avLst>
              <a:gd name="adj" fmla="val 300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7847" y="1280592"/>
            <a:ext cx="231360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RFx Cycle Time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849070" y="1280592"/>
            <a:ext cx="22949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2–3 days ↓60%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97847" y="1506810"/>
            <a:ext cx="231360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Invoice Exceptions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49070" y="1506810"/>
            <a:ext cx="22949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&lt;2% ↓90%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97847" y="1733029"/>
            <a:ext cx="231360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Maverick Spend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49070" y="1733029"/>
            <a:ext cx="22949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 ↓95%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97847" y="1959248"/>
            <a:ext cx="231360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per Order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49070" y="1959248"/>
            <a:ext cx="22949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&lt;€25 ↓90%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97847" y="2185467"/>
            <a:ext cx="231360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Audit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49070" y="2185467"/>
            <a:ext cx="22949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Real-time, always current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7847" y="2411685"/>
            <a:ext cx="2313608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Approvals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49070" y="2411685"/>
            <a:ext cx="22949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5–10% strategic only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1751" y="2668339"/>
            <a:ext cx="396589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"Procurement operates like it's 2025, not 2005." — Marco B., Procurement Manager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95602" y="2668339"/>
            <a:ext cx="14288" cy="263128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36" name="Text 34"/>
          <p:cNvSpPr/>
          <p:nvPr/>
        </p:nvSpPr>
        <p:spPr>
          <a:xfrm>
            <a:off x="112514" y="3130897"/>
            <a:ext cx="4417591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€5M+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1597819" y="3551411"/>
            <a:ext cx="14469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Annual Savings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2514" y="3743846"/>
            <a:ext cx="441759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a 200-person company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385221" y="3130897"/>
            <a:ext cx="4417665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90%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870600" y="3551411"/>
            <a:ext cx="14469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Cost Reduction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85221" y="3743846"/>
            <a:ext cx="441766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procurement order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2514" y="4058022"/>
            <a:ext cx="4417591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&lt;5s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1597819" y="4478536"/>
            <a:ext cx="14469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Settlement Time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2514" y="4670971"/>
            <a:ext cx="4417591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processing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85221" y="4058022"/>
            <a:ext cx="4417665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100%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5870600" y="4478536"/>
            <a:ext cx="14469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Audit Coverage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85221" y="4670971"/>
            <a:ext cx="441766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Immutable, real-time</a:t>
            </a:r>
            <a:endParaRPr lang="en-US" sz="7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8D67D2-C5BA-FB21-1D51-94AD44CD7F4C}"/>
              </a:ext>
            </a:extLst>
          </p:cNvPr>
          <p:cNvSpPr/>
          <p:nvPr/>
        </p:nvSpPr>
        <p:spPr>
          <a:xfrm>
            <a:off x="7968343" y="4825573"/>
            <a:ext cx="1175657" cy="317927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57411"/>
            <a:ext cx="1551459" cy="233660"/>
          </a:xfrm>
          <a:prstGeom prst="roundRect">
            <a:avLst>
              <a:gd name="adj" fmla="val 18475"/>
            </a:avLst>
          </a:prstGeom>
          <a:solidFill>
            <a:srgbClr val="3E0845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395883"/>
            <a:ext cx="1854622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37580"/>
            <a:ext cx="5276701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Why ProcureMind Nexus Wins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49610" y="1213619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ProcureMind Nexus redefines procurement with agentic AI, outpacing traditional systems and legacy cloud platforms in speed, cost-efficiency, and compliance.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610" y="185283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Traditional RPA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9610" y="2184499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336" y="2327225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clicks, </a:t>
            </a:r>
            <a:r>
              <a:rPr lang="en-US" sz="10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reasoning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610" y="2782267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336" y="2924994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Slow, manual exceptions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9610" y="3380036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336" y="3522762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compliance audits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9610" y="3977804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336" y="4120530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Rigid, inflexible automation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78535" y="1852836"/>
            <a:ext cx="265501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Legacy Cloud (Coupa, Ariba)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78535" y="2184499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1261" y="2327225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Cloud-based, </a:t>
            </a:r>
            <a:r>
              <a:rPr lang="en-US" sz="10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expensive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78535" y="2782267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1261" y="2924994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to customize (14 days)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8535" y="3380036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1261" y="3522762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approvals </a:t>
            </a:r>
            <a:r>
              <a:rPr lang="en-US" sz="10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of orders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78535" y="3977804"/>
            <a:ext cx="2510730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1261" y="4120530"/>
            <a:ext cx="26824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cost per order (€400+)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07460" y="185283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ProcureMind Nexus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07460" y="2184499"/>
            <a:ext cx="2596307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0186" y="2327225"/>
            <a:ext cx="27680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</a:t>
            </a: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real-time reasoning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7460" y="2782267"/>
            <a:ext cx="2596307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0186" y="2924994"/>
            <a:ext cx="27680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Rapid deployment (2.3 days)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07460" y="3380036"/>
            <a:ext cx="2596307" cy="481385"/>
          </a:xfrm>
          <a:prstGeom prst="roundRect">
            <a:avLst>
              <a:gd name="adj" fmla="val 11209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0186" y="3522762"/>
            <a:ext cx="276805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 AI Act native</a:t>
            </a: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&amp; blockchain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07460" y="3977804"/>
            <a:ext cx="2596307" cy="677317"/>
          </a:xfrm>
          <a:prstGeom prst="roundRect">
            <a:avLst>
              <a:gd name="adj" fmla="val 7967"/>
            </a:avLst>
          </a:prstGeom>
          <a:solidFill>
            <a:srgbClr val="090E3F"/>
          </a:solidFill>
          <a:ln w="14288">
            <a:solidFill>
              <a:srgbClr val="4146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0186" y="4120530"/>
            <a:ext cx="231085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Voice-first, automated payments, multimodal</a:t>
            </a:r>
            <a:endParaRPr lang="en-US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6F8C5C-537D-12E8-E443-A5C632E2F50C}"/>
              </a:ext>
            </a:extLst>
          </p:cNvPr>
          <p:cNvSpPr/>
          <p:nvPr/>
        </p:nvSpPr>
        <p:spPr>
          <a:xfrm>
            <a:off x="7968343" y="4825573"/>
            <a:ext cx="1175657" cy="317927"/>
          </a:xfrm>
          <a:prstGeom prst="rect">
            <a:avLst/>
          </a:prstGeom>
          <a:solidFill>
            <a:srgbClr val="090E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671</Words>
  <Application>Microsoft Office PowerPoint</Application>
  <PresentationFormat>On-screen Show (16:9)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Montserrat</vt:lpstr>
      <vt:lpstr>Arial</vt:lpstr>
      <vt:lpstr>Bricolage Grotesque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Yash Kadam</cp:lastModifiedBy>
  <cp:revision>2</cp:revision>
  <dcterms:created xsi:type="dcterms:W3CDTF">2026-05-19T12:01:53Z</dcterms:created>
  <dcterms:modified xsi:type="dcterms:W3CDTF">2026-05-19T12:03:41Z</dcterms:modified>
</cp:coreProperties>
</file>